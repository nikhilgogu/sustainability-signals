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58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4400" y="1645920"/>
            <a:ext cx="54864" cy="13716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80160" y="164592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Calibri"/>
              </a:defRPr>
            </a:pPr>
            <a:r>
              <a:t>SustainabilitySignals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2468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34D399"/>
                </a:solidFill>
                <a:latin typeface="Calibri"/>
              </a:defRPr>
            </a:pPr>
            <a:r>
              <a:t>Transparent ESG Ratings from Disclosure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3832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EC0"/>
                </a:solidFill>
                <a:latin typeface="Calibri"/>
              </a:defRPr>
            </a:pPr>
            <a:r>
              <a:t>AI-powered platform that reads 950+ European sustainability reports,</a:t>
            </a:r>
            <a:br/>
            <a:r>
              <a:t>scores disclosure quality, and extracts structured ESG data — all evidence-grounded.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5303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B93"/>
                </a:solidFill>
                <a:latin typeface="Calibri"/>
              </a:defRPr>
            </a:pPr>
            <a:r>
              <a:t>Nikhil Reddy Gogu  ·  nikhil.chat  ·  Feb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0" y="5321808"/>
            <a:ext cx="1645920" cy="320040"/>
          </a:xfrm>
          <a:prstGeom prst="roundRect">
            <a:avLst>
              <a:gd name="adj" fmla="val 50000"/>
            </a:avLst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100" b="1">
                <a:solidFill>
                  <a:srgbClr val="34D399"/>
                </a:solidFill>
                <a:latin typeface="Calibri"/>
              </a:defRPr>
            </a:pPr>
            <a:r>
              <a:t>Student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B93"/>
                </a:solidFill>
                <a:latin typeface="Calibr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486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4D399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rPr dirty="0"/>
              <a:t>ESG ratings are a black box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286000"/>
            <a:ext cx="3200400" cy="3474720"/>
          </a:xfrm>
          <a:prstGeom prst="roundRect">
            <a:avLst>
              <a:gd name="adj" fmla="val 4000"/>
            </a:avLst>
          </a:prstGeom>
          <a:solidFill>
            <a:srgbClr val="16213A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88720" y="2606040"/>
            <a:ext cx="164592" cy="164592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88720" y="28803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rPr dirty="0"/>
              <a:t>Opaque Methodologies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543300"/>
            <a:ext cx="2651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EC0"/>
                </a:solidFill>
                <a:latin typeface="Calibri"/>
              </a:defRPr>
            </a:pPr>
            <a:r>
              <a:t>Major ESG rating agencies (MSCI, Sustainalytics, ISS) use proprietary, non-reproducible scoring. Investors can't verify how a rating was derived.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286000"/>
            <a:ext cx="3200400" cy="3474720"/>
          </a:xfrm>
          <a:prstGeom prst="roundRect">
            <a:avLst>
              <a:gd name="adj" fmla="val 4000"/>
            </a:avLst>
          </a:prstGeom>
          <a:solidFill>
            <a:srgbClr val="16213A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4663440" y="2606040"/>
            <a:ext cx="164592" cy="164592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63440" y="28803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rPr dirty="0"/>
              <a:t>Low Correlation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383280"/>
            <a:ext cx="2651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EC0"/>
                </a:solidFill>
                <a:latin typeface="Calibri"/>
              </a:defRPr>
            </a:pPr>
            <a:r>
              <a:t>Academic research shows correlations as low as 0.38-0.71 between major ESG rating providers — the same company gets wildly different scores.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2286000"/>
            <a:ext cx="3200400" cy="3474720"/>
          </a:xfrm>
          <a:prstGeom prst="roundRect">
            <a:avLst>
              <a:gd name="adj" fmla="val 4000"/>
            </a:avLst>
          </a:prstGeom>
          <a:solidFill>
            <a:srgbClr val="16213A"/>
          </a:solidFill>
          <a:ln w="1905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138160" y="2606040"/>
            <a:ext cx="164592" cy="164592"/>
          </a:xfrm>
          <a:prstGeom prst="ellipse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38160" y="28803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rPr dirty="0"/>
              <a:t>No Evidence Trail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3383280"/>
            <a:ext cx="2651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EC0"/>
                </a:solidFill>
                <a:latin typeface="Calibri"/>
              </a:defRPr>
            </a:pPr>
            <a:r>
              <a:t>Current ratings provide a number, not evidence. When a company scores 'AA', stakeholders can't trace what disclosure drove that result.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B93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48640"/>
            <a:ext cx="3657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4D399"/>
                </a:solidFill>
                <a:latin typeface="Calibri"/>
              </a:defRPr>
            </a:pPr>
            <a:r>
              <a:rPr lang="en-IN" dirty="0"/>
              <a:t>My</a:t>
            </a:r>
            <a:r>
              <a:rPr dirty="0"/>
              <a:t>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rPr dirty="0"/>
              <a:t>Evidence-grounded ESG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A0AEC0"/>
                </a:solidFill>
                <a:latin typeface="Calibri"/>
              </a:defRPr>
            </a:pPr>
            <a:r>
              <a:rPr dirty="0" err="1"/>
              <a:t>SustainabilitySignals</a:t>
            </a:r>
            <a:r>
              <a:rPr dirty="0"/>
              <a:t> reads the actual report, extracts evidence, and shows its work.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834640"/>
            <a:ext cx="2468880" cy="2926080"/>
          </a:xfrm>
          <a:prstGeom prst="roundRect">
            <a:avLst>
              <a:gd name="adj" fmla="val 4000"/>
            </a:avLst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88720" y="30175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6118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4D399"/>
                </a:solidFill>
                <a:latin typeface="Calibri"/>
              </a:defRPr>
            </a:pPr>
            <a:r>
              <a:t>Read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4069080"/>
            <a:ext cx="1920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Calibri"/>
              </a:defRPr>
            </a:pPr>
            <a:r>
              <a:t>AI converts 950+ sustainability PDFs to structured text. Every page, every table.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2834640"/>
            <a:ext cx="2468880" cy="2926080"/>
          </a:xfrm>
          <a:prstGeom prst="roundRect">
            <a:avLst>
              <a:gd name="adj" fmla="val 4000"/>
            </a:avLst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931920" y="30175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36118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4D399"/>
                </a:solidFill>
                <a:latin typeface="Calibri"/>
              </a:defRPr>
            </a:pPr>
            <a:r>
              <a:t>Score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4069080"/>
            <a:ext cx="1920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Calibri"/>
              </a:defRPr>
            </a:pPr>
            <a:r>
              <a:t>Regex + NLP engine detects 50+ disclosure signals across 4 quality dimensions.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834640"/>
            <a:ext cx="2468880" cy="2926080"/>
          </a:xfrm>
          <a:prstGeom prst="roundRect">
            <a:avLst>
              <a:gd name="adj" fmla="val 4000"/>
            </a:avLst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75120" y="30175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6118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4D399"/>
                </a:solidFill>
                <a:latin typeface="Calibri"/>
              </a:defRPr>
            </a:pPr>
            <a:r>
              <a:t>Extract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4069080"/>
            <a:ext cx="1920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Calibri"/>
              </a:defRPr>
            </a:pPr>
            <a:r>
              <a:t>FinBERT-ESG classifies content; LangExtract pulls structured entities (emissions, targets, policies).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2834640"/>
            <a:ext cx="2468880" cy="2926080"/>
          </a:xfrm>
          <a:prstGeom prst="roundRect">
            <a:avLst>
              <a:gd name="adj" fmla="val 4000"/>
            </a:avLst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418320" y="30175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36118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4D399"/>
                </a:solidFill>
                <a:latin typeface="Calibri"/>
              </a:defRPr>
            </a:pPr>
            <a:r>
              <a:t>Chat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4069080"/>
            <a:ext cx="1920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Calibri"/>
              </a:defRPr>
            </a:pPr>
            <a:r>
              <a:t>Ask questions about any report with AI grounded in the actual document text — not hallucinations.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B93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486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4D399"/>
                </a:solidFill>
                <a:latin typeface="Calibri"/>
              </a:defRPr>
            </a:pPr>
            <a:r>
              <a:t>CORE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Disclosure Quality Scoring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103120"/>
            <a:ext cx="10332720" cy="1097280"/>
          </a:xfrm>
          <a:prstGeom prst="roundRect">
            <a:avLst>
              <a:gd name="adj" fmla="val 4000"/>
            </a:avLst>
          </a:prstGeom>
          <a:solidFill>
            <a:srgbClr val="16213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80160" y="2240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DQ Score =  0.35 × Completeness  +  0.25 × Consistency  +  0.20 × Assurance  +  0.20 × Transparency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697480"/>
            <a:ext cx="9144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B93"/>
                </a:solidFill>
                <a:latin typeface="Calibri"/>
              </a:defRPr>
            </a:pPr>
            <a:r>
              <a:rPr dirty="0"/>
              <a:t>Bands:  High ≥ 75   ·   Medium 50-74   ·   Low &lt; 50   |   All evidence-grounded with s</a:t>
            </a:r>
            <a:r>
              <a:rPr lang="en-IN" dirty="0"/>
              <a:t>our</a:t>
            </a:r>
            <a:r>
              <a:rPr dirty="0" err="1"/>
              <a:t>ce</a:t>
            </a:r>
            <a:r>
              <a:rPr dirty="0"/>
              <a:t> page references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657600"/>
            <a:ext cx="2423160" cy="2743200"/>
          </a:xfrm>
          <a:prstGeom prst="roundRect">
            <a:avLst>
              <a:gd name="adj" fmla="val 4000"/>
            </a:avLst>
          </a:prstGeom>
          <a:solidFill>
            <a:srgbClr val="16213A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97280" y="3886200"/>
            <a:ext cx="640080" cy="32004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300" b="1">
                <a:solidFill>
                  <a:srgbClr val="0F172A"/>
                </a:solidFill>
                <a:latin typeface="Calibri"/>
              </a:defRPr>
            </a:pPr>
            <a:r>
              <a:t>35%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20" y="385876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Completeness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389120"/>
            <a:ext cx="2057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rPr dirty="0"/>
              <a:t>Breadth across frameworks (GRI, ESRS, TCFD, SASB), materiality, governance, climate, social, taxonomy.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3657600"/>
            <a:ext cx="2423160" cy="2743200"/>
          </a:xfrm>
          <a:prstGeom prst="roundRect">
            <a:avLst>
              <a:gd name="adj" fmla="val 4000"/>
            </a:avLst>
          </a:prstGeom>
          <a:solidFill>
            <a:srgbClr val="16213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749040" y="3886200"/>
            <a:ext cx="640080" cy="32004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300" b="1">
                <a:solidFill>
                  <a:srgbClr val="0F172A"/>
                </a:solidFill>
                <a:latin typeface="Calibri"/>
              </a:defRPr>
            </a:pPr>
            <a:r>
              <a:t>25%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385876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Consistency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0" y="4389120"/>
            <a:ext cx="2057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Methodology, base year, GHG protocol, comparative data, quantitative density, data quality signals.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657600"/>
            <a:ext cx="2423160" cy="2743200"/>
          </a:xfrm>
          <a:prstGeom prst="roundRect">
            <a:avLst>
              <a:gd name="adj" fmla="val 4000"/>
            </a:avLst>
          </a:prstGeom>
          <a:solidFill>
            <a:srgbClr val="16213A"/>
          </a:solidFill>
          <a:ln w="1905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400800" y="3886200"/>
            <a:ext cx="640080" cy="320040"/>
          </a:xfrm>
          <a:prstGeom prst="roundRect">
            <a:avLst>
              <a:gd name="adj" fmla="val 50000"/>
            </a:avLst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300" b="1">
                <a:solidFill>
                  <a:srgbClr val="0F172A"/>
                </a:solidFill>
                <a:latin typeface="Calibri"/>
              </a:defRPr>
            </a:pPr>
            <a:r>
              <a:t>20%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78040" y="385876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Assurance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389120"/>
            <a:ext cx="2057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Limited/reasonable assurance levels, standards (ISAE, AA1000), named providers, scope breadth.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69679" y="3657600"/>
            <a:ext cx="2423160" cy="2743200"/>
          </a:xfrm>
          <a:prstGeom prst="roundRect">
            <a:avLst>
              <a:gd name="adj" fmla="val 4000"/>
            </a:avLst>
          </a:prstGeom>
          <a:solidFill>
            <a:srgbClr val="16213A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052559" y="3886200"/>
            <a:ext cx="640080" cy="32004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300" b="1">
                <a:solidFill>
                  <a:srgbClr val="0F172A"/>
                </a:solidFill>
                <a:latin typeface="Calibri"/>
              </a:defRPr>
            </a:pPr>
            <a:r>
              <a:t>20%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29799" y="385876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Transparency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59" y="4389120"/>
            <a:ext cx="2057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Forward-looking statements, transition plans, stakeholder engagement, financial connectivity, ESRS datapoints.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B93"/>
                </a:solidFill>
                <a:latin typeface="Calibr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486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4D399"/>
                </a:solidFill>
                <a:latin typeface="Calibri"/>
              </a:defRPr>
            </a:pPr>
            <a:r>
              <a:t>AI &amp; 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Multi-model intelligence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286000"/>
            <a:ext cx="2057400" cy="3474720"/>
          </a:xfrm>
          <a:prstGeom prst="roundRect">
            <a:avLst>
              <a:gd name="adj" fmla="val 4000"/>
            </a:avLst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280160" y="2514600"/>
            <a:ext cx="457200" cy="45720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5468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PDF → Markdown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1188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4D399"/>
                </a:solidFill>
                <a:latin typeface="Calibri"/>
              </a:defRPr>
            </a:pPr>
            <a:r>
              <a:t>Workers AI</a:t>
            </a:r>
            <a:br/>
            <a:r>
              <a:t>toMarkdown()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97680"/>
            <a:ext cx="1691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Converts report PDFs into</a:t>
            </a:r>
            <a:br/>
            <a:r>
              <a:t>clean, structured 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33832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4D39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40" y="2286000"/>
            <a:ext cx="2057400" cy="3474720"/>
          </a:xfrm>
          <a:prstGeom prst="roundRect">
            <a:avLst>
              <a:gd name="adj" fmla="val 4000"/>
            </a:avLst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566160" y="2514600"/>
            <a:ext cx="457200" cy="45720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315468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ESG Classification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361188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4D399"/>
                </a:solidFill>
                <a:latin typeface="Calibri"/>
              </a:defRPr>
            </a:pPr>
            <a:r>
              <a:t>FinBERT-ESG</a:t>
            </a:r>
            <a:br/>
            <a:r>
              <a:t>9 Categories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4297680"/>
            <a:ext cx="1691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Routes content chunks</a:t>
            </a:r>
            <a:br/>
            <a:r>
              <a:t>by ESG topic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33832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4D39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20640" y="2286000"/>
            <a:ext cx="2057400" cy="3474720"/>
          </a:xfrm>
          <a:prstGeom prst="roundRect">
            <a:avLst>
              <a:gd name="adj" fmla="val 4000"/>
            </a:avLst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5852160" y="2514600"/>
            <a:ext cx="457200" cy="45720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315468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Entity Extraction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361188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4D399"/>
                </a:solidFill>
                <a:latin typeface="Calibri"/>
              </a:defRPr>
            </a:pPr>
            <a:r>
              <a:t>LangExtract</a:t>
            </a:r>
            <a:br/>
            <a:r>
              <a:t>+ LLM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4297680"/>
            <a:ext cx="1691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Pulls emissions, targets,</a:t>
            </a:r>
            <a:br/>
            <a:r>
              <a:t>policies, metrics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33832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4D39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06640" y="2286000"/>
            <a:ext cx="2057400" cy="3474720"/>
          </a:xfrm>
          <a:prstGeom prst="roundRect">
            <a:avLst>
              <a:gd name="adj" fmla="val 4000"/>
            </a:avLst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138160" y="2514600"/>
            <a:ext cx="457200" cy="45720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315468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Semantic Search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361188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4D399"/>
                </a:solidFill>
                <a:latin typeface="Calibri"/>
              </a:defRPr>
            </a:pPr>
            <a:r>
              <a:t>Vectorize</a:t>
            </a:r>
            <a:br/>
            <a:r>
              <a:t>+ Embeddings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0" y="4297680"/>
            <a:ext cx="1691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Enables relevance-ranked</a:t>
            </a:r>
            <a:br/>
            <a:r>
              <a:t>retrieval across reports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64040" y="33832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4D39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92640" y="2286000"/>
            <a:ext cx="2057400" cy="3474720"/>
          </a:xfrm>
          <a:prstGeom prst="roundRect">
            <a:avLst>
              <a:gd name="adj" fmla="val 4000"/>
            </a:avLst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424160" y="2514600"/>
            <a:ext cx="457200" cy="45720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20" y="315468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Grounded Chat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0" y="361188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4D399"/>
                </a:solidFill>
                <a:latin typeface="Calibri"/>
              </a:defRPr>
            </a:pPr>
            <a:r>
              <a:t>Mistral / Llama</a:t>
            </a:r>
            <a:br/>
            <a:r>
              <a:t>Context Window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75520" y="4297680"/>
            <a:ext cx="1691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Q&amp;A over report text,</a:t>
            </a:r>
            <a:br/>
            <a:r>
              <a:t>no hallucinations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B93"/>
                </a:solidFill>
                <a:latin typeface="Calibr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486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4D399"/>
                </a:solidFill>
                <a:latin typeface="Calibri"/>
              </a:defRPr>
            </a:pPr>
            <a:r>
              <a:t>COVERAGE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953 European sustainability reports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EC0"/>
                </a:solidFill>
                <a:latin typeface="Calibri"/>
              </a:defRPr>
            </a:pPr>
            <a:r>
              <a:t>CSRD-aligned disclosures from 2024 annual &amp; sustainability reports, covering 32 countries and 11 GICS sectors.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743200"/>
            <a:ext cx="2423160" cy="1463040"/>
          </a:xfrm>
          <a:prstGeom prst="roundRect">
            <a:avLst>
              <a:gd name="adj" fmla="val 4000"/>
            </a:avLst>
          </a:prstGeom>
          <a:solidFill>
            <a:srgbClr val="16213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880360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34D399"/>
                </a:solidFill>
                <a:latin typeface="Calibri"/>
              </a:defRPr>
            </a:pPr>
            <a:r>
              <a:t>953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2044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A0AEC0"/>
                </a:solidFill>
                <a:latin typeface="Calibri"/>
              </a:defRPr>
            </a:pPr>
            <a:r>
              <a:t>Reports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2743200"/>
            <a:ext cx="2423160" cy="1463040"/>
          </a:xfrm>
          <a:prstGeom prst="roundRect">
            <a:avLst>
              <a:gd name="adj" fmla="val 4000"/>
            </a:avLst>
          </a:prstGeom>
          <a:solidFill>
            <a:srgbClr val="16213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0" y="2880360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34D399"/>
                </a:solidFill>
                <a:latin typeface="Calibri"/>
              </a:defRPr>
            </a:pPr>
            <a:r>
              <a:t>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52044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A0AEC0"/>
                </a:solidFill>
                <a:latin typeface="Calibri"/>
              </a:defRPr>
            </a:pPr>
            <a:r>
              <a:t>Countries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743200"/>
            <a:ext cx="2423160" cy="1463040"/>
          </a:xfrm>
          <a:prstGeom prst="roundRect">
            <a:avLst>
              <a:gd name="adj" fmla="val 4000"/>
            </a:avLst>
          </a:prstGeom>
          <a:solidFill>
            <a:srgbClr val="16213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2880360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34D399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52044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A0AEC0"/>
                </a:solidFill>
                <a:latin typeface="Calibri"/>
              </a:defRPr>
            </a:pPr>
            <a:r>
              <a:t>GICS Sectors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743200"/>
            <a:ext cx="2423160" cy="1463040"/>
          </a:xfrm>
          <a:prstGeom prst="roundRect">
            <a:avLst>
              <a:gd name="adj" fmla="val 4000"/>
            </a:avLst>
          </a:prstGeom>
          <a:solidFill>
            <a:srgbClr val="16213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0" y="2880360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34D399"/>
                </a:solidFill>
                <a:latin typeface="Calibri"/>
              </a:defRPr>
            </a:pPr>
            <a:r>
              <a:t>50+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352044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A0AEC0"/>
                </a:solidFill>
                <a:latin typeface="Calibri"/>
              </a:defRPr>
            </a:pPr>
            <a:r>
              <a:t>DQ Features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572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Top Sectors by Coverage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029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  Industrials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50292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34D399"/>
                </a:solidFill>
                <a:latin typeface="Calibri"/>
              </a:defRPr>
            </a:pPr>
            <a:r>
              <a:t>233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303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  Financials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5303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34D399"/>
                </a:solidFill>
                <a:latin typeface="Calibri"/>
              </a:defRPr>
            </a:pPr>
            <a:r>
              <a:t>162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577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  Consumer Discretionary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55778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34D399"/>
                </a:solidFill>
                <a:latin typeface="Calibri"/>
              </a:defRPr>
            </a:pPr>
            <a:r>
              <a:t>88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85215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  Information Technology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5852159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34D399"/>
                </a:solidFill>
                <a:latin typeface="Calibri"/>
              </a:defRPr>
            </a:pPr>
            <a:r>
              <a:t>85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6126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  Materials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61264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34D399"/>
                </a:solidFill>
                <a:latin typeface="Calibri"/>
              </a:defRPr>
            </a:pPr>
            <a:r>
              <a:t>81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6400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  Consumer Staples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34D399"/>
                </a:solidFill>
                <a:latin typeface="Calibri"/>
              </a:defRPr>
            </a:pPr>
            <a:r>
              <a:t>73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4572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Pan-European Coverage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0" y="5029200"/>
            <a:ext cx="548640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Calibri"/>
              </a:defRPr>
            </a:pPr>
            <a:r>
              <a:rPr dirty="0"/>
              <a:t>Germany · France · Netherlands · Italy · Spain · Belgium · Sweden</a:t>
            </a:r>
            <a:br>
              <a:rPr dirty="0"/>
            </a:br>
            <a:r>
              <a:rPr dirty="0"/>
              <a:t>Norway · Finland · Denmark · Austria · UK · Switzerland · Ireland</a:t>
            </a:r>
            <a:br>
              <a:rPr dirty="0"/>
            </a:br>
            <a:r>
              <a:rPr dirty="0"/>
              <a:t>Luxemburg · Poland · Portugal · Greece · Czech Republic · Romania</a:t>
            </a:r>
            <a:br>
              <a:rPr dirty="0"/>
            </a:br>
            <a:r>
              <a:rPr dirty="0"/>
              <a:t>and 12 more EU/EEA countries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B93"/>
                </a:solidFill>
                <a:latin typeface="Calibr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486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4D399"/>
                </a:solidFill>
                <a:latin typeface="Calibri"/>
              </a:defRPr>
            </a:pPr>
            <a:r>
              <a:t>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Full-stack ESG intelligence platform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103120"/>
            <a:ext cx="3291840" cy="2011680"/>
          </a:xfrm>
          <a:prstGeom prst="roundRect">
            <a:avLst>
              <a:gd name="adj" fmla="val 4000"/>
            </a:avLst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🔎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2331720"/>
            <a:ext cx="914400" cy="32004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0F172A"/>
                </a:solidFill>
                <a:latin typeface="Calibri"/>
              </a:defRPr>
            </a:pPr>
            <a:r>
              <a:t>LIVE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7432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Report Library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15468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Browse, filter, and search 953 sustainability reports by company, sector, country, or year.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2103120"/>
            <a:ext cx="3291840" cy="2011680"/>
          </a:xfrm>
          <a:prstGeom prst="roundRect">
            <a:avLst>
              <a:gd name="adj" fmla="val 4000"/>
            </a:avLst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63440" y="2286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2331720"/>
            <a:ext cx="914400" cy="32004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0F172A"/>
                </a:solidFill>
                <a:latin typeface="Calibri"/>
              </a:defRPr>
            </a:pPr>
            <a:r>
              <a:t>LIVE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7432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DQ Scoring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154680"/>
            <a:ext cx="29260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rPr dirty="0"/>
              <a:t>Transparent Disclosure Quality scores with </a:t>
            </a:r>
            <a:r>
              <a:rPr dirty="0" err="1"/>
              <a:t>subscores</a:t>
            </a:r>
            <a:r>
              <a:rPr dirty="0"/>
              <a:t>, evidence highlights, and s</a:t>
            </a:r>
            <a:r>
              <a:rPr lang="en-IN" dirty="0"/>
              <a:t>our</a:t>
            </a:r>
            <a:r>
              <a:rPr dirty="0" err="1"/>
              <a:t>ce</a:t>
            </a:r>
            <a:r>
              <a:rPr dirty="0"/>
              <a:t> page references.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103120"/>
            <a:ext cx="3291840" cy="2011680"/>
          </a:xfrm>
          <a:prstGeom prst="roundRect">
            <a:avLst>
              <a:gd name="adj" fmla="val 4000"/>
            </a:avLst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0" y="2286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🤖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241280" y="2331720"/>
            <a:ext cx="914400" cy="32004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0F172A"/>
                </a:solidFill>
                <a:latin typeface="Calibri"/>
              </a:defRPr>
            </a:pPr>
            <a:r>
              <a:t>LIVE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7432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AI Chat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15468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Ask questions about any report. The AI is grounded in actual document text — with page citations.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4389120"/>
            <a:ext cx="3291840" cy="2011680"/>
          </a:xfrm>
          <a:prstGeom prst="roundRect">
            <a:avLst>
              <a:gd name="adj" fmla="val 4000"/>
            </a:avLst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97280" y="4572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108960" y="4617720"/>
            <a:ext cx="914400" cy="32004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0F172A"/>
                </a:solidFill>
                <a:latin typeface="Calibri"/>
              </a:defRPr>
            </a:pPr>
            <a:r>
              <a:t>LIVE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0292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In-App PDF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44068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Read sustainability reports directly in the browser with range-served PDFs for instant rendering.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80560" y="4389120"/>
            <a:ext cx="3291840" cy="2011680"/>
          </a:xfrm>
          <a:prstGeom prst="roundRect">
            <a:avLst>
              <a:gd name="adj" fmla="val 4000"/>
            </a:avLst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663440" y="4572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🧬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75120" y="4617720"/>
            <a:ext cx="914400" cy="32004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0F172A"/>
                </a:solidFill>
                <a:latin typeface="Calibri"/>
              </a:defRPr>
            </a:pPr>
            <a:r>
              <a:t>LIVE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50292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Entity Extraction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544068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FinBERT-ESG + LangExtract pulls structured ESG entities: emissions, targets, policies, metrics.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20" y="4389120"/>
            <a:ext cx="3291840" cy="2011680"/>
          </a:xfrm>
          <a:prstGeom prst="roundRect">
            <a:avLst>
              <a:gd name="adj" fmla="val 4000"/>
            </a:avLst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29600" y="4572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📈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241280" y="4617720"/>
            <a:ext cx="914400" cy="320040"/>
          </a:xfrm>
          <a:prstGeom prst="roundRect">
            <a:avLst>
              <a:gd name="adj" fmla="val 50000"/>
            </a:avLst>
          </a:prstGeom>
          <a:solidFill>
            <a:srgbClr val="6B7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PLANNED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50292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Company Profiles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544068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Deep-dive ESG profiles with score breakdowns, risk factors, peer comparison, and time-series.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B93"/>
                </a:solidFill>
                <a:latin typeface="Calibr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486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4D399"/>
                </a:solidFill>
                <a:latin typeface="Calibri"/>
              </a:defRPr>
            </a:pPr>
            <a:r>
              <a:t>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Cloud-native, edge-first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103120"/>
            <a:ext cx="2560320" cy="4023360"/>
          </a:xfrm>
          <a:prstGeom prst="roundRect">
            <a:avLst>
              <a:gd name="adj" fmla="val 4000"/>
            </a:avLst>
          </a:prstGeom>
          <a:solidFill>
            <a:srgbClr val="16213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3000" y="22860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D399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834640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React 19 + TypeScript + Vite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611880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react-pdf for in-browser PDF rendering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4389120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Tailwind CSS for responsive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5166360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Client-side routing via React Router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03320" y="2103120"/>
            <a:ext cx="2560320" cy="4023360"/>
          </a:xfrm>
          <a:prstGeom prst="roundRect">
            <a:avLst>
              <a:gd name="adj" fmla="val 4000"/>
            </a:avLst>
          </a:prstGeom>
          <a:solidFill>
            <a:srgbClr val="16213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931920" y="22860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Calibri"/>
              </a:defRPr>
            </a:pPr>
            <a:r>
              <a:t>Backend / Edge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2834640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Cloudflare Pages Functions (serverless)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3611880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Cloudflare R2 (object storage for PDFs)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4389120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Cloudflare Workers AI (Mistral, Llama)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5166360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Cloudflare Vectorize (semantic search)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2103120"/>
            <a:ext cx="2560320" cy="4023360"/>
          </a:xfrm>
          <a:prstGeom prst="roundRect">
            <a:avLst>
              <a:gd name="adj" fmla="val 4000"/>
            </a:avLst>
          </a:prstGeom>
          <a:solidFill>
            <a:srgbClr val="16213A"/>
          </a:solidFill>
          <a:ln w="1270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20840" y="22860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ACC15"/>
                </a:solidFill>
                <a:latin typeface="Calibri"/>
              </a:defRPr>
            </a:pPr>
            <a:r>
              <a:t>ML / 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2834640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FinBERT-ESG-9 (ESG classification)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3611880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LangExtract (structured entity extraction)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4389120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ESG-BERT (issue classification + pillar)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5166360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Azure Container Apps (inference hosting)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81159" y="2103120"/>
            <a:ext cx="2560320" cy="4023360"/>
          </a:xfrm>
          <a:prstGeom prst="roundRect">
            <a:avLst>
              <a:gd name="adj" fmla="val 4000"/>
            </a:avLst>
          </a:prstGeom>
          <a:solidFill>
            <a:srgbClr val="16213A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509759" y="22860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97316"/>
                </a:solidFill>
                <a:latin typeface="Calibri"/>
              </a:defRPr>
            </a:pPr>
            <a:r>
              <a:t>Data Pipeline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59" y="2834640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PDF → Markdown via AI.toMarkdown()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59" y="3611880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Regex v4.1 DQ feature engine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9759" y="4389120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Vectorize chunk embeddings (bge-small)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59" y="5166360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NDJSON manifests + R2 cache layer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B93"/>
                </a:solidFill>
                <a:latin typeface="Calibr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486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4D399"/>
                </a:solidFill>
                <a:latin typeface="Calibri"/>
              </a:defRPr>
            </a:pPr>
            <a:r>
              <a:t>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rPr dirty="0"/>
              <a:t>What </a:t>
            </a:r>
            <a:r>
              <a:rPr lang="en-US" dirty="0"/>
              <a:t>I’ve</a:t>
            </a:r>
            <a:r>
              <a:rPr dirty="0"/>
              <a:t> built (solo, in months)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286000"/>
            <a:ext cx="5120640" cy="1097280"/>
          </a:xfrm>
          <a:prstGeom prst="roundRect">
            <a:avLst>
              <a:gd name="adj" fmla="val 4000"/>
            </a:avLst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88720" y="2560320"/>
            <a:ext cx="457200" cy="45720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46888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953 reports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88036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Calibri"/>
              </a:defRPr>
            </a:pPr>
            <a:r>
              <a:t>collected, extracted, and indexed from EU-listed companies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286000"/>
            <a:ext cx="5120640" cy="1097280"/>
          </a:xfrm>
          <a:prstGeom prst="roundRect">
            <a:avLst>
              <a:gd name="adj" fmla="val 4000"/>
            </a:avLst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675120" y="2560320"/>
            <a:ext cx="457200" cy="45720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246888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DQ Engine v4.1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288036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Calibri"/>
              </a:defRPr>
            </a:pPr>
            <a:r>
              <a:t>50+ disclosure features with evidence-grounded scoring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657600"/>
            <a:ext cx="5120640" cy="1097280"/>
          </a:xfrm>
          <a:prstGeom prst="roundRect">
            <a:avLst>
              <a:gd name="adj" fmla="val 4000"/>
            </a:avLst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188720" y="3931920"/>
            <a:ext cx="457200" cy="45720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84048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Entity extraction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25196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Calibri"/>
              </a:defRPr>
            </a:pPr>
            <a:r>
              <a:t>structured ESG entities via FinBERT + LangExtract pipeline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657600"/>
            <a:ext cx="5120640" cy="1097280"/>
          </a:xfrm>
          <a:prstGeom prst="roundRect">
            <a:avLst>
              <a:gd name="adj" fmla="val 4000"/>
            </a:avLst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675120" y="3931920"/>
            <a:ext cx="457200" cy="45720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384048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AI chat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425196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Calibri"/>
              </a:defRPr>
            </a:pPr>
            <a:r>
              <a:t>grounded Q&amp;A over full report text with page citations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5029200"/>
            <a:ext cx="5120640" cy="1097280"/>
          </a:xfrm>
          <a:prstGeom prst="roundRect">
            <a:avLst>
              <a:gd name="adj" fmla="val 4000"/>
            </a:avLst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188720" y="5303520"/>
            <a:ext cx="457200" cy="45720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521208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Semantic search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562356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Calibri"/>
              </a:defRPr>
            </a:pPr>
            <a:r>
              <a:t>Vectorize-powered retrieval across entire report corpus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5029200"/>
            <a:ext cx="5120640" cy="1097280"/>
          </a:xfrm>
          <a:prstGeom prst="roundRect">
            <a:avLst>
              <a:gd name="adj" fmla="val 4000"/>
            </a:avLst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675120" y="5303520"/>
            <a:ext cx="457200" cy="45720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521208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Live platform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562356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Calibri"/>
              </a:defRPr>
            </a:pPr>
            <a:r>
              <a:t>deployed end-to-end on Cloudflare edge infrastructure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B93"/>
                </a:solidFill>
                <a:latin typeface="Calibr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486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4D399"/>
                </a:solidFill>
                <a:latin typeface="Calibri"/>
              </a:defRPr>
            </a:pPr>
            <a: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From Disclosure Quality to ESG Ratings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103120"/>
            <a:ext cx="2651760" cy="4206240"/>
          </a:xfrm>
          <a:prstGeom prst="roundRect">
            <a:avLst>
              <a:gd name="adj" fmla="val 4000"/>
            </a:avLst>
          </a:prstGeom>
          <a:solidFill>
            <a:srgbClr val="16213A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68680" y="2331720"/>
            <a:ext cx="1097280" cy="32004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100" b="1">
                <a:solidFill>
                  <a:srgbClr val="0F172A"/>
                </a:solidFill>
                <a:latin typeface="Calibri"/>
              </a:defRPr>
            </a:pPr>
            <a:r>
              <a:t>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7889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Calibri"/>
              </a:defRPr>
            </a:pPr>
            <a:r>
              <a:t>Foundation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3410712"/>
            <a:ext cx="91440" cy="9144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333756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953 reports scored &amp; indexed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4050792"/>
            <a:ext cx="91440" cy="9144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3000" y="39776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DQ engine v4.1 live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4690872"/>
            <a:ext cx="91440" cy="9144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43000" y="461772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Entity extraction operational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5330951"/>
            <a:ext cx="91440" cy="9144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43000" y="5257799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AI chat functional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20440" y="2103120"/>
            <a:ext cx="2651760" cy="4206240"/>
          </a:xfrm>
          <a:prstGeom prst="roundRect">
            <a:avLst>
              <a:gd name="adj" fmla="val 4000"/>
            </a:avLst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749040" y="2331720"/>
            <a:ext cx="1097280" cy="32004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100" b="1">
                <a:solidFill>
                  <a:srgbClr val="0F172A"/>
                </a:solidFill>
                <a:latin typeface="Calibri"/>
              </a:defRPr>
            </a:pPr>
            <a:r>
              <a:t>Q2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40" y="27889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Calibri"/>
              </a:defRPr>
            </a:pPr>
            <a:r>
              <a:t>Intelligence Layer</a:t>
            </a:r>
          </a:p>
        </p:txBody>
      </p:sp>
      <p:sp>
        <p:nvSpPr>
          <p:cNvPr id="18" name="Oval 17"/>
          <p:cNvSpPr/>
          <p:nvPr/>
        </p:nvSpPr>
        <p:spPr>
          <a:xfrm>
            <a:off x="3794760" y="3410712"/>
            <a:ext cx="91440" cy="9144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023360" y="333756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Company ESG profiles / dashboards</a:t>
            </a:r>
          </a:p>
        </p:txBody>
      </p:sp>
      <p:sp>
        <p:nvSpPr>
          <p:cNvPr id="20" name="Oval 19"/>
          <p:cNvSpPr/>
          <p:nvPr/>
        </p:nvSpPr>
        <p:spPr>
          <a:xfrm>
            <a:off x="3794760" y="4050792"/>
            <a:ext cx="91440" cy="9144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023360" y="39776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Peer comparison &amp; benchmarking</a:t>
            </a:r>
          </a:p>
        </p:txBody>
      </p:sp>
      <p:sp>
        <p:nvSpPr>
          <p:cNvPr id="22" name="Oval 21"/>
          <p:cNvSpPr/>
          <p:nvPr/>
        </p:nvSpPr>
        <p:spPr>
          <a:xfrm>
            <a:off x="3794760" y="4690872"/>
            <a:ext cx="91440" cy="9144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023360" y="461772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Cross-company entity aggregation</a:t>
            </a:r>
          </a:p>
        </p:txBody>
      </p:sp>
      <p:sp>
        <p:nvSpPr>
          <p:cNvPr id="24" name="Oval 23"/>
          <p:cNvSpPr/>
          <p:nvPr/>
        </p:nvSpPr>
        <p:spPr>
          <a:xfrm>
            <a:off x="3794760" y="5330951"/>
            <a:ext cx="91440" cy="9144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023360" y="5257799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Time-series DQ tracking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2103120"/>
            <a:ext cx="2651760" cy="4206240"/>
          </a:xfrm>
          <a:prstGeom prst="roundRect">
            <a:avLst>
              <a:gd name="adj" fmla="val 4000"/>
            </a:avLst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629400" y="2331720"/>
            <a:ext cx="1097280" cy="320040"/>
          </a:xfrm>
          <a:prstGeom prst="roundRect">
            <a:avLst>
              <a:gd name="adj" fmla="val 50000"/>
            </a:avLst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100" b="1">
                <a:solidFill>
                  <a:srgbClr val="0F172A"/>
                </a:solidFill>
                <a:latin typeface="Calibri"/>
              </a:defRPr>
            </a:pPr>
            <a:r>
              <a:t>Q3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27889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Calibri"/>
              </a:defRPr>
            </a:pPr>
            <a:r>
              <a:t>ESG Ratings</a:t>
            </a:r>
          </a:p>
        </p:txBody>
      </p:sp>
      <p:sp>
        <p:nvSpPr>
          <p:cNvPr id="29" name="Oval 28"/>
          <p:cNvSpPr/>
          <p:nvPr/>
        </p:nvSpPr>
        <p:spPr>
          <a:xfrm>
            <a:off x="6675120" y="3410712"/>
            <a:ext cx="91440" cy="91440"/>
          </a:xfrm>
          <a:prstGeom prst="ellipse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903720" y="333756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Evidence-grounded ESG ratings</a:t>
            </a:r>
          </a:p>
        </p:txBody>
      </p:sp>
      <p:sp>
        <p:nvSpPr>
          <p:cNvPr id="31" name="Oval 30"/>
          <p:cNvSpPr/>
          <p:nvPr/>
        </p:nvSpPr>
        <p:spPr>
          <a:xfrm>
            <a:off x="6675120" y="4050792"/>
            <a:ext cx="91440" cy="91440"/>
          </a:xfrm>
          <a:prstGeom prst="ellipse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903720" y="39776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Risk factor identification</a:t>
            </a:r>
          </a:p>
        </p:txBody>
      </p:sp>
      <p:sp>
        <p:nvSpPr>
          <p:cNvPr id="33" name="Oval 32"/>
          <p:cNvSpPr/>
          <p:nvPr/>
        </p:nvSpPr>
        <p:spPr>
          <a:xfrm>
            <a:off x="6675120" y="4690872"/>
            <a:ext cx="91440" cy="91440"/>
          </a:xfrm>
          <a:prstGeom prst="ellipse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903720" y="461772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Industry materiality weighting</a:t>
            </a:r>
          </a:p>
        </p:txBody>
      </p:sp>
      <p:sp>
        <p:nvSpPr>
          <p:cNvPr id="35" name="Oval 34"/>
          <p:cNvSpPr/>
          <p:nvPr/>
        </p:nvSpPr>
        <p:spPr>
          <a:xfrm>
            <a:off x="6675120" y="5330951"/>
            <a:ext cx="91440" cy="91440"/>
          </a:xfrm>
          <a:prstGeom prst="ellipse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903720" y="5257799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API access for institutions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281160" y="2103120"/>
            <a:ext cx="2651760" cy="4206240"/>
          </a:xfrm>
          <a:prstGeom prst="roundRect">
            <a:avLst>
              <a:gd name="adj" fmla="val 4000"/>
            </a:avLst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9509760" y="2331720"/>
            <a:ext cx="1097280" cy="32004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100" b="1">
                <a:solidFill>
                  <a:srgbClr val="0F172A"/>
                </a:solidFill>
                <a:latin typeface="Calibri"/>
              </a:defRPr>
            </a:pPr>
            <a:r>
              <a:t>Q4 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09760" y="27889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Calibri"/>
              </a:defRPr>
            </a:pPr>
            <a:r>
              <a:t>Scale</a:t>
            </a:r>
          </a:p>
        </p:txBody>
      </p:sp>
      <p:sp>
        <p:nvSpPr>
          <p:cNvPr id="40" name="Oval 39"/>
          <p:cNvSpPr/>
          <p:nvPr/>
        </p:nvSpPr>
        <p:spPr>
          <a:xfrm>
            <a:off x="9555480" y="3410712"/>
            <a:ext cx="91440" cy="9144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784080" y="333756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Expand beyond EU (US, APAC)</a:t>
            </a:r>
          </a:p>
        </p:txBody>
      </p:sp>
      <p:sp>
        <p:nvSpPr>
          <p:cNvPr id="42" name="Oval 41"/>
          <p:cNvSpPr/>
          <p:nvPr/>
        </p:nvSpPr>
        <p:spPr>
          <a:xfrm>
            <a:off x="9555480" y="4050792"/>
            <a:ext cx="91440" cy="9144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784080" y="39776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Real-time CSRD monitoring</a:t>
            </a:r>
          </a:p>
        </p:txBody>
      </p:sp>
      <p:sp>
        <p:nvSpPr>
          <p:cNvPr id="44" name="Oval 43"/>
          <p:cNvSpPr/>
          <p:nvPr/>
        </p:nvSpPr>
        <p:spPr>
          <a:xfrm>
            <a:off x="9555480" y="4690872"/>
            <a:ext cx="91440" cy="9144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784080" y="461772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Regulatory change detection</a:t>
            </a:r>
          </a:p>
        </p:txBody>
      </p:sp>
      <p:sp>
        <p:nvSpPr>
          <p:cNvPr id="46" name="Oval 45"/>
          <p:cNvSpPr/>
          <p:nvPr/>
        </p:nvSpPr>
        <p:spPr>
          <a:xfrm>
            <a:off x="9555480" y="5330951"/>
            <a:ext cx="91440" cy="9144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784080" y="5257799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Institutional data feeds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B93"/>
                </a:solidFill>
                <a:latin typeface="Calibr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486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4D399"/>
                </a:solidFill>
                <a:latin typeface="Calibri"/>
              </a:defRPr>
            </a:pPr>
            <a: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68680"/>
            <a:ext cx="100584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rPr dirty="0"/>
              <a:t>Built by a finance student, for the finance world</a:t>
            </a:r>
            <a:r>
              <a:rPr lang="en-US" dirty="0"/>
              <a:t>s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914400" y="2286000"/>
            <a:ext cx="5029200" cy="3840480"/>
          </a:xfrm>
          <a:prstGeom prst="roundRect">
            <a:avLst>
              <a:gd name="adj" fmla="val 4000"/>
            </a:avLst>
          </a:prstGeom>
          <a:solidFill>
            <a:srgbClr val="16213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25603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Nikhil Reddy Gogu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0632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4D399"/>
                </a:solidFill>
                <a:latin typeface="Calibri"/>
              </a:defRPr>
            </a:pPr>
            <a:r>
              <a:t>Founder &amp; Builder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65760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rPr dirty="0"/>
              <a:t>🎓  Dual Degree: Master in Finance (AMS) + MBA Financial Services (</a:t>
            </a:r>
            <a:r>
              <a:rPr dirty="0" err="1"/>
              <a:t>Woxsen</a:t>
            </a:r>
            <a:r>
              <a:rPr dirty="0"/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986784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rPr dirty="0"/>
              <a:t>🇧🇪  Based in Antwerpen, Belgium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315968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rPr dirty="0"/>
              <a:t>📊  ESG Experience: </a:t>
            </a:r>
            <a:r>
              <a:rPr dirty="0" err="1"/>
              <a:t>Impactree</a:t>
            </a:r>
            <a:r>
              <a:rPr dirty="0"/>
              <a:t> Data Technologies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64515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rPr dirty="0"/>
              <a:t>🌍  PRME Global Working Group (Steering Committee)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974336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rPr dirty="0"/>
              <a:t>📈  Bloomberg Lab Student Representative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303519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rPr dirty="0"/>
              <a:t>🏫  Class of '26 Representative at Antwerp Management School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632704"/>
            <a:ext cx="43891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rPr dirty="0"/>
              <a:t>💻  </a:t>
            </a:r>
            <a:r>
              <a:rPr lang="en-US" dirty="0"/>
              <a:t>Vibe Coding and Learning</a:t>
            </a:r>
            <a:endParaRPr dirty="0"/>
          </a:p>
        </p:txBody>
      </p:sp>
      <p:sp>
        <p:nvSpPr>
          <p:cNvPr id="14" name="Rounded Rectangle 13"/>
          <p:cNvSpPr/>
          <p:nvPr/>
        </p:nvSpPr>
        <p:spPr>
          <a:xfrm>
            <a:off x="6400800" y="2286000"/>
            <a:ext cx="4846320" cy="1828800"/>
          </a:xfrm>
          <a:prstGeom prst="roundRect">
            <a:avLst>
              <a:gd name="adj" fmla="val 4000"/>
            </a:avLst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766560" y="24688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Why this matters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2926080"/>
            <a:ext cx="4114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Calibri"/>
              </a:defRPr>
            </a:pPr>
            <a:r>
              <a:t>Finance domain expertise + engineering capability = </a:t>
            </a:r>
            <a:br/>
            <a:r>
              <a:t>a platform that understands what investors actually need</a:t>
            </a:r>
            <a:br/>
            <a:r>
              <a:t>from ESG disclosures and can build it end-to-end.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4389120"/>
            <a:ext cx="4846320" cy="1737360"/>
          </a:xfrm>
          <a:prstGeom prst="roundRect">
            <a:avLst>
              <a:gd name="adj" fmla="val 4000"/>
            </a:avLst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66560" y="45720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Links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5029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🌐  Portfolio: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5029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4D399"/>
                </a:solidFill>
                <a:latin typeface="Calibri"/>
              </a:defRPr>
            </a:pPr>
            <a:r>
              <a:t>nikhil.chat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5349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💼  LinkedIn: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5349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4D399"/>
                </a:solidFill>
                <a:latin typeface="Calibri"/>
              </a:defRPr>
            </a:pPr>
            <a:r>
              <a:t>linkedin.com/in/nikhilgogu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56692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📧  Email: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5669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4D399"/>
                </a:solidFill>
                <a:latin typeface="Calibri"/>
              </a:defRPr>
            </a:pPr>
            <a:r>
              <a:t>nikhilreddy.gogu@student.ams.ac.be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B93"/>
                </a:solidFill>
                <a:latin typeface="Calibr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94960" y="1371600"/>
            <a:ext cx="1371600" cy="457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rPr dirty="0"/>
              <a:t>Let's build transparent</a:t>
            </a:r>
            <a:br>
              <a:rPr dirty="0"/>
            </a:br>
            <a:r>
              <a:rPr dirty="0"/>
              <a:t>ESG ratings together.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20040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A0AEC0"/>
                </a:solidFill>
                <a:latin typeface="Calibri"/>
              </a:defRPr>
            </a:pPr>
            <a:r>
              <a:rPr dirty="0" err="1"/>
              <a:t>SustainabilitySignals</a:t>
            </a:r>
            <a:r>
              <a:rPr dirty="0"/>
              <a:t> is looking for early partners, advisors, and collaborators</a:t>
            </a:r>
            <a:br>
              <a:rPr dirty="0"/>
            </a:br>
            <a:r>
              <a:rPr dirty="0"/>
              <a:t>who believe ESG ratings should show their work.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17520" y="4206240"/>
            <a:ext cx="6126480" cy="1645920"/>
          </a:xfrm>
          <a:prstGeom prst="roundRect">
            <a:avLst>
              <a:gd name="adj" fmla="val 4000"/>
            </a:avLst>
          </a:prstGeom>
          <a:solidFill>
            <a:srgbClr val="16213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810000" y="4343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AEC0"/>
                </a:solidFill>
                <a:latin typeface="Calibri"/>
              </a:defRPr>
            </a:pPr>
            <a:r>
              <a:rPr dirty="0"/>
              <a:t>📧  nikhilreddy.gogu@student.ams.ac.be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0000" y="4800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AEC0"/>
                </a:solidFill>
                <a:latin typeface="Calibri"/>
              </a:defRPr>
            </a:pPr>
            <a:r>
              <a:rPr dirty="0"/>
              <a:t>🌐  </a:t>
            </a:r>
            <a:r>
              <a:rPr dirty="0" err="1"/>
              <a:t>nikhil.chat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3794760" y="5349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AEC0"/>
                </a:solidFill>
                <a:latin typeface="Calibri"/>
              </a:defRPr>
            </a:pPr>
            <a:r>
              <a:rPr dirty="0"/>
              <a:t>💼  linkedin.com/in/</a:t>
            </a:r>
            <a:r>
              <a:rPr dirty="0" err="1"/>
              <a:t>nikhilgogu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914400" y="62179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B93"/>
                </a:solidFill>
                <a:latin typeface="Calibri"/>
              </a:defRPr>
            </a:pPr>
            <a:r>
              <a:rPr dirty="0" err="1"/>
              <a:t>SustainabilitySignals</a:t>
            </a:r>
            <a:r>
              <a:rPr dirty="0"/>
              <a:t>  ·  © 2026  ·   Antwerpen, Belgium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B93"/>
                </a:solidFill>
                <a:latin typeface="Calibr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1154</Words>
  <Application>Microsoft Office PowerPoint</Application>
  <PresentationFormat>Widescreen</PresentationFormat>
  <Paragraphs>228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Nikhil Reddy Gogu</cp:lastModifiedBy>
  <cp:revision>13</cp:revision>
  <dcterms:created xsi:type="dcterms:W3CDTF">2013-01-27T09:14:16Z</dcterms:created>
  <dcterms:modified xsi:type="dcterms:W3CDTF">2026-02-14T23:30:42Z</dcterms:modified>
  <cp:category/>
</cp:coreProperties>
</file>